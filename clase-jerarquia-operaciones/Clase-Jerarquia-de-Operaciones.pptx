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BIENVENIDA (0-3 min). Saluda por nombre. Di: 'Ya dominan los signos; hoy subimos de nivel con el ORDEN de las operaciones, que es donde el examen hace caer a la gente. Primero un quiz rápido para calentar y comprobar los signos, y de ahí al tema.'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(dentro de bienvenida). Muéstrales el mapa de la hora para que sepan que habrá práctica activa, no solo escuchar. No te detengas más de 40 seg aquí.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QUIZ (3-20 min). Comparte quiz-entrada.html en el chat. Silencia el micro. Vigila el chat. Anota mentalmente quién saca bajo: a esos apóyalos en la práctica final. Es diagnóstico: te dice si el grupo está listo para jerarquía.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PUENTE (20-25 min). Revisa resultados rápido. Luego lanza el enganche del tema: 3+4×2. Muchos dirán 14 (sumando primero). NO corrijas aún: 'la mitad dice 11 y la mitad 14... ¿quién tiene razón? Eso es lo que hoy resolvemos: la jerarquía.'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REGLA (25-30 min). Presenta la escalera. Truco de memoria: 'Primero lo agrupado, luego lo poderoso (potencias), luego lo fuerte (×÷), y al final lo suave (+−)'. Recalca el detalle que más falla: ×÷ y +− se leen de IZQUIERDA A DERECHA, no todo lo de multiplicar primero por ser 'más importante'.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 1 (30-33 min). Aquí se resuelve el enganche. Ve paso a paso preguntando '¿qué hago primero?'. Deja que el chat responda. Marca la victoria: 'era 11, la multiplicación va antes que la suma'.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 2 (33-38 min). Mismo números, distinto resultado. El paréntesis obliga a sumar primero. Que un alumno explique por qué cambia. Esto suele ser el 'clic' de la clase.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 3 (38-43 min). Aquí se junta TODO: jerarquía + ley de signos (por eso el quiz de entrada). Ve despacio con el signo de la multiplicación. Pon 1-2 más en voz alta si hay tiempo (ver siguiente slide).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 TURNO (43-48 min). Tapa las respuestas hablando: pregunta, esperan en el chat, confirmas. Ojo el 8÷2×2 = 8 (izquierda a derecha), es la trampa estrella. Nombra a distintos alumnos.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TRAMPAS (48-50 min). Repaso rápido de errores. Pídeles un ejemplo parecido a cada una en el chat. Luego lanza la práctica autónoma.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ACTIVIDAD 2 (50-56 min). Comparte practica-jerarquia.html. Silencia y deja que trabajen. Vigila el chat. Al terminar, pregunta cuál ejercicio les costó más y resuélvelo en voz alta 30 seg.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(56-60 min). Repite la escalera en voz alta con ellos. Pregunta '¿qué se les hizo más difícil?' y responde eso. Manda la tarea. Despídete por nombre, con energía.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Referencia para ti. Guion detallado en las notas de cada slide. Si el quiz se alarga, recorta 'Tu turno' a 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286000"/>
            <a:ext cx="2103120" cy="2103120"/>
          </a:xfrm>
          <a:prstGeom prst="ellipse">
            <a:avLst/>
          </a:prstGeom>
          <a:solidFill>
            <a:srgbClr val="FFC8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28600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31F2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 )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3383280" y="21031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8CC0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MATEMÁTICA · INGRESO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3337560" y="2468880"/>
            <a:ext cx="8412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Jerarquía de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Operaciones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3383280" y="4114800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7D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orden correcto para resolver sin equivocarse.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4846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8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Clase en vivo · 60 min · arranca con quiz de entrada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1F2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Cómo va la clase de hoy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10881360" cy="1051560"/>
          </a:xfrm>
          <a:prstGeom prst="roundRect">
            <a:avLst>
              <a:gd name="adj" fmla="val 12174"/>
            </a:avLst>
          </a:prstGeom>
          <a:solidFill>
            <a:srgbClr val="EAF6E0"/>
          </a:solidFill>
          <a:ln/>
          <a:effectLst>
            <a:outerShdw sx="100000" sy="100000" kx="0" ky="0" algn="bl" rotWithShape="0" blurRad="101600" dist="38100" dir="5400000">
              <a:srgbClr val="9BB0A5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755648"/>
            <a:ext cx="658368" cy="658368"/>
          </a:xfrm>
          <a:prstGeom prst="ellipse">
            <a:avLst/>
          </a:prstGeom>
          <a:solidFill>
            <a:srgbClr val="58CC0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7556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737360" y="1554480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8CC0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20 min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170078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1F2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Quiz de entrada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212140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C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de signos, 25 preguntas. Comprobamos la base.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743200"/>
            <a:ext cx="10881360" cy="1051560"/>
          </a:xfrm>
          <a:prstGeom prst="roundRect">
            <a:avLst>
              <a:gd name="adj" fmla="val 12174"/>
            </a:avLst>
          </a:prstGeom>
          <a:solidFill>
            <a:srgbClr val="F4F7F5"/>
          </a:solidFill>
          <a:ln/>
          <a:effectLst>
            <a:outerShdw sx="100000" sy="100000" kx="0" ky="0" algn="bl" rotWithShape="0" blurRad="101600" dist="38100" dir="5400000">
              <a:srgbClr val="9BB0A5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944368"/>
            <a:ext cx="658368" cy="658368"/>
          </a:xfrm>
          <a:prstGeom prst="ellipse">
            <a:avLst/>
          </a:prstGeom>
          <a:solidFill>
            <a:srgbClr val="FFC80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294436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31F2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737360" y="2743200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A6D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25 min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383280" y="288950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1F2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Jerarquía de operaciones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383280" y="331012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C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tema nuevo, paso a paso con ejemplos.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3931920"/>
            <a:ext cx="10881360" cy="1051560"/>
          </a:xfrm>
          <a:prstGeom prst="roundRect">
            <a:avLst>
              <a:gd name="adj" fmla="val 12174"/>
            </a:avLst>
          </a:prstGeom>
          <a:solidFill>
            <a:srgbClr val="EAF6E0"/>
          </a:solidFill>
          <a:ln/>
          <a:effectLst>
            <a:outerShdw sx="100000" sy="100000" kx="0" ky="0" algn="bl" rotWithShape="0" blurRad="101600" dist="38100" dir="5400000">
              <a:srgbClr val="9BB0A5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" y="4133088"/>
            <a:ext cx="658368" cy="658368"/>
          </a:xfrm>
          <a:prstGeom prst="ellipse">
            <a:avLst/>
          </a:prstGeom>
          <a:solidFill>
            <a:srgbClr val="E8503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41330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1737360" y="3931920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0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10 min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3383280" y="407822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1F2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Práctica autónoma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3383280" y="449884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C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uno resuelve y se autocorrige.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" y="5120640"/>
            <a:ext cx="10881360" cy="1051560"/>
          </a:xfrm>
          <a:prstGeom prst="roundRect">
            <a:avLst>
              <a:gd name="adj" fmla="val 12174"/>
            </a:avLst>
          </a:prstGeom>
          <a:solidFill>
            <a:srgbClr val="F4F7F5"/>
          </a:solidFill>
          <a:ln/>
          <a:effectLst>
            <a:outerShdw sx="100000" sy="100000" kx="0" ky="0" algn="bl" rotWithShape="0" blurRad="101600" dist="38100" dir="5400000">
              <a:srgbClr val="9BB0A5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68680" y="5321808"/>
            <a:ext cx="658368" cy="658368"/>
          </a:xfrm>
          <a:prstGeom prst="ellipse">
            <a:avLst/>
          </a:prstGeom>
          <a:solidFill>
            <a:srgbClr val="131F2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8680" y="53218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4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1737360" y="5120640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1F2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5 min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3383280" y="526694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1F2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Cierre + tarea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3383280" y="568756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C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 de la regla y qué cae en el examen.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58CC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131F2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AHORA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Quiz de Entrada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6766560" cy="374904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BB0A5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60604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F9A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Cada uno en su dispositivo: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200400"/>
            <a:ext cx="63093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 quiz-entrada.html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ejercicios de signos (con 2 y con varios números).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minutos. El cronómetro corre solo.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pasar de 20/25. Puntaje al chat al terminar.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35240" y="2377440"/>
            <a:ext cx="3886200" cy="3749040"/>
          </a:xfrm>
          <a:prstGeom prst="roundRect">
            <a:avLst>
              <a:gd name="adj" fmla="val 3415"/>
            </a:avLst>
          </a:prstGeom>
          <a:solidFill>
            <a:srgbClr val="131F24"/>
          </a:solidFill>
          <a:ln/>
          <a:effectLst>
            <a:outerShdw sx="100000" sy="100000" kx="0" ky="0" algn="bl" rotWithShape="0" blurRad="101600" dist="38100" dir="5400000">
              <a:srgbClr val="9BB0A5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635240" y="2697480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FF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5200" dirty="0"/>
          </a:p>
        </p:txBody>
      </p:sp>
      <p:sp>
        <p:nvSpPr>
          <p:cNvPr id="9" name="Text 7"/>
          <p:cNvSpPr txBox="1"/>
          <p:nvPr/>
        </p:nvSpPr>
        <p:spPr>
          <a:xfrm>
            <a:off x="7635240" y="3794760"/>
            <a:ext cx="3886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20 min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7635240" y="466344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D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autónomo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635240" y="5166360"/>
            <a:ext cx="3886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BB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Tú: silencia y responde dudas por chat.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1F2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¿Cómo nos fue?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10881360" cy="1828800"/>
          </a:xfrm>
          <a:prstGeom prst="roundRect">
            <a:avLst>
              <a:gd name="adj" fmla="val 7000"/>
            </a:avLst>
          </a:prstGeom>
          <a:solidFill>
            <a:srgbClr val="FFF4CC"/>
          </a:solidFill>
          <a:ln/>
          <a:effectLst>
            <a:outerShdw sx="100000" sy="100000" kx="0" ky="0" algn="bl" rotWithShape="0" blurRad="101600" dist="38100" dir="5400000">
              <a:srgbClr val="9BB0A5">
                <a:alpha val="3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1005840" y="1463040"/>
            <a:ext cx="10149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A6D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Pregunta al chat: ¿quién pasó de 20? ¿cuál pregunta les costó más?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3566160"/>
            <a:ext cx="10881360" cy="2560320"/>
          </a:xfrm>
          <a:prstGeom prst="roundRect">
            <a:avLst>
              <a:gd name="adj" fmla="val 5000"/>
            </a:avLst>
          </a:prstGeom>
          <a:solidFill>
            <a:srgbClr val="131F24"/>
          </a:solidFill>
          <a:ln/>
          <a:effectLst>
            <a:outerShdw sx="100000" sy="100000" kx="0" ky="0" algn="bl" rotWithShape="0" blurRad="101600" dist="38100" dir="5400000">
              <a:srgbClr val="9BB0A5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005840" y="3794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ahora la pregunta clave del día: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420624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 + 4 × 2   =   ?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5486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8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¿11 o 14? Respondan en el chat…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1F2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El orden manda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C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se resuelve en este orden, de arriba hacia abajo: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88136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BB0A5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10512"/>
            <a:ext cx="621792" cy="621792"/>
          </a:xfrm>
          <a:prstGeom prst="ellipse">
            <a:avLst/>
          </a:prstGeom>
          <a:solidFill>
            <a:srgbClr val="58CC0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81051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164592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1F2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Paréntesis y corchetes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164592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C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 )  [ ]  — primero lo que está agrupado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743200"/>
            <a:ext cx="10881360" cy="960120"/>
          </a:xfrm>
          <a:prstGeom prst="roundRect">
            <a:avLst>
              <a:gd name="adj" fmla="val 13333"/>
            </a:avLst>
          </a:prstGeom>
          <a:solidFill>
            <a:srgbClr val="F4F7F5"/>
          </a:solidFill>
          <a:ln/>
          <a:effectLst>
            <a:outerShdw sx="100000" sy="100000" kx="0" ky="0" algn="bl" rotWithShape="0" blurRad="101600" dist="38100" dir="5400000">
              <a:srgbClr val="9BB0A5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907792"/>
            <a:ext cx="621792" cy="621792"/>
          </a:xfrm>
          <a:prstGeom prst="ellipse">
            <a:avLst/>
          </a:prstGeom>
          <a:solidFill>
            <a:srgbClr val="FFC80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29077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31F2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737360" y="274320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1F2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Potencias y raíces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74320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C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3² , √9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3840480"/>
            <a:ext cx="1088136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BB0A5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4005072"/>
            <a:ext cx="621792" cy="621792"/>
          </a:xfrm>
          <a:prstGeom prst="ellipse">
            <a:avLst/>
          </a:prstGeom>
          <a:solidFill>
            <a:srgbClr val="E8503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400507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1737360" y="384048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1F2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Multiplicación y división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384048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C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÷ — de izquierda a derecha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0080" y="4937760"/>
            <a:ext cx="10881360" cy="960120"/>
          </a:xfrm>
          <a:prstGeom prst="roundRect">
            <a:avLst>
              <a:gd name="adj" fmla="val 13333"/>
            </a:avLst>
          </a:prstGeom>
          <a:solidFill>
            <a:srgbClr val="F4F7F5"/>
          </a:solidFill>
          <a:ln/>
          <a:effectLst>
            <a:outerShdw sx="100000" sy="100000" kx="0" ky="0" algn="bl" rotWithShape="0" blurRad="101600" dist="38100" dir="5400000">
              <a:srgbClr val="9BB0A5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5102352"/>
            <a:ext cx="621792" cy="621792"/>
          </a:xfrm>
          <a:prstGeom prst="ellipse">
            <a:avLst/>
          </a:prstGeom>
          <a:solidFill>
            <a:srgbClr val="131F2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510235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1737360" y="493776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1F2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Suma y resta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493776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C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− — de izquierda a derecha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1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Resolvamos juntos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417320"/>
            <a:ext cx="10515600" cy="4572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BB0A5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88720" y="1783080"/>
            <a:ext cx="685800" cy="685800"/>
          </a:xfrm>
          <a:prstGeom prst="ellipse">
            <a:avLst/>
          </a:prstGeom>
          <a:solidFill>
            <a:srgbClr val="58CC0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88720" y="17830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2148840" y="17830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F2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 + 4 × 2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178308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C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Miramos: hay suma y multiplicación.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88720" y="3200400"/>
            <a:ext cx="685800" cy="685800"/>
          </a:xfrm>
          <a:prstGeom prst="ellipse">
            <a:avLst/>
          </a:prstGeom>
          <a:solidFill>
            <a:srgbClr val="58CC0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88720" y="3200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2148840" y="32004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F2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 + 8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5852160" y="320040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C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× va primero: 4 × 2 = 8.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188720" y="4617720"/>
            <a:ext cx="685800" cy="685800"/>
          </a:xfrm>
          <a:prstGeom prst="ellipse">
            <a:avLst/>
          </a:prstGeom>
          <a:solidFill>
            <a:srgbClr val="58CC0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88720" y="46177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2148840" y="46177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F2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11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5852160" y="461772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C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 sí la suma. Resultado = 11 (no 14).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F2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El paréntesis lo cambia todo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349240" cy="4480560"/>
          </a:xfrm>
          <a:prstGeom prst="roundRect">
            <a:avLst>
              <a:gd name="adj" fmla="val 2857"/>
            </a:avLst>
          </a:prstGeom>
          <a:solidFill>
            <a:srgbClr val="FBE7E3"/>
          </a:solidFill>
          <a:ln/>
          <a:effectLst>
            <a:outerShdw sx="100000" sy="100000" kx="0" ky="0" algn="bl" rotWithShape="0" blurRad="101600" dist="38100" dir="5400000">
              <a:srgbClr val="9BB0A5">
                <a:alpha val="3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914400" y="16916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50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SIN paréntesis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286000"/>
            <a:ext cx="48463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131F2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 + 4 × 2</a:t>
            </a:r>
            <a:endParaRPr lang="en-US" sz="2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3C4B5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= 3 + 8</a:t>
            </a:r>
            <a:endParaRPr lang="en-US" sz="2800" dirty="0"/>
          </a:p>
          <a:p>
            <a:pPr indent="0" marL="0">
              <a:buNone/>
            </a:pPr>
            <a:r>
              <a:rPr lang="en-US" sz="3000" b="1" dirty="0">
                <a:solidFill>
                  <a:srgbClr val="E850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= 11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172200" y="1463040"/>
            <a:ext cx="5349240" cy="4480560"/>
          </a:xfrm>
          <a:prstGeom prst="roundRect">
            <a:avLst>
              <a:gd name="adj" fmla="val 2857"/>
            </a:avLst>
          </a:prstGeom>
          <a:solidFill>
            <a:srgbClr val="EAF6E0"/>
          </a:solidFill>
          <a:ln/>
          <a:effectLst>
            <a:outerShdw sx="100000" sy="100000" kx="0" ky="0" algn="bl" rotWithShape="0" blurRad="101600" dist="38100" dir="5400000">
              <a:srgbClr val="9BB0A5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46520" y="16916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F9A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 paréntesis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2286000"/>
            <a:ext cx="48463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131F2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(3 + 4) × 2</a:t>
            </a:r>
            <a:endParaRPr lang="en-US" sz="2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3C4B5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= 7 × 2</a:t>
            </a:r>
            <a:endParaRPr lang="en-US" sz="2800" dirty="0"/>
          </a:p>
          <a:p>
            <a:pPr indent="0" marL="0">
              <a:buNone/>
            </a:pPr>
            <a:r>
              <a:rPr lang="en-US" sz="3000" b="1" dirty="0">
                <a:solidFill>
                  <a:srgbClr val="3F9A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= 14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F2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 signos y potencias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10515600" cy="4480560"/>
          </a:xfrm>
          <a:prstGeom prst="roundRect">
            <a:avLst>
              <a:gd name="adj" fmla="val 2857"/>
            </a:avLst>
          </a:prstGeom>
          <a:solidFill>
            <a:srgbClr val="F4F7F5"/>
          </a:solidFill>
          <a:ln/>
          <a:effectLst>
            <a:outerShdw sx="100000" sy="100000" kx="0" ky="0" algn="bl" rotWithShape="0" blurRad="101600" dist="38100" dir="5400000">
              <a:srgbClr val="9BB0A5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88720" y="1828800"/>
            <a:ext cx="658368" cy="658368"/>
          </a:xfrm>
          <a:prstGeom prst="ellipse">
            <a:avLst/>
          </a:prstGeom>
          <a:solidFill>
            <a:srgbClr val="FFC8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88720" y="18288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31F2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2103120" y="182880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1F2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−2 + 3 × (−4)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18288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C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Multiplicación primero (ojo el signo).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188720" y="3200400"/>
            <a:ext cx="658368" cy="658368"/>
          </a:xfrm>
          <a:prstGeom prst="ellipse">
            <a:avLst/>
          </a:prstGeom>
          <a:solidFill>
            <a:srgbClr val="FFC80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88720" y="32004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31F2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2103120" y="320040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1F2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−2 + (−12)</a:t>
            </a:r>
            <a:endParaRPr lang="en-US" sz="27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32004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C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× (−4) = −12. Signos distintos → negativo.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188720" y="4572000"/>
            <a:ext cx="658368" cy="658368"/>
          </a:xfrm>
          <a:prstGeom prst="ellipse">
            <a:avLst/>
          </a:prstGeom>
          <a:solidFill>
            <a:srgbClr val="FFC80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88720" y="45720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31F2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2103120" y="457200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1F2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−14</a:t>
            </a:r>
            <a:endParaRPr lang="en-US" sz="27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45720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C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 de mismo signo: se suman. = −14.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1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Tu turno · responde en el chat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512064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BB0A5">
                <a:alpha val="3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810512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31F2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10 − 2 × 3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69748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F9A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= 4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309360" y="1554480"/>
            <a:ext cx="512064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BB0A5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309360" y="1810512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31F2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20 ÷ (2 + 3)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269748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F9A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= 4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22960" y="3749040"/>
            <a:ext cx="512064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BB0A5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22960" y="4005072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31F2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 + 3²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89204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F9A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= 11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309360" y="3749040"/>
            <a:ext cx="512064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BB0A5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309360" y="4005072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31F2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8 ÷ 2 × 2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489204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F9A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= 8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1F2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Las 3 trampas del examen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3429000" cy="4480560"/>
          </a:xfrm>
          <a:prstGeom prst="roundRect">
            <a:avLst>
              <a:gd name="adj" fmla="val 3733"/>
            </a:avLst>
          </a:prstGeom>
          <a:solidFill>
            <a:srgbClr val="FBE7E3"/>
          </a:solidFill>
          <a:ln/>
          <a:effectLst>
            <a:outerShdw sx="100000" sy="100000" kx="0" ky="0" algn="bl" rotWithShape="0" blurRad="101600" dist="38100" dir="5400000">
              <a:srgbClr val="9BB0A5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691640"/>
            <a:ext cx="548640" cy="548640"/>
          </a:xfrm>
          <a:prstGeom prst="ellipse">
            <a:avLst/>
          </a:prstGeom>
          <a:solidFill>
            <a:srgbClr val="E850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774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1F2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Sumar antes de multiplicar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3832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0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 + 4 × 2 = 11, no 14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38912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C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× y ÷ van antes que + y −.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43400" y="1417320"/>
            <a:ext cx="3429000" cy="4480560"/>
          </a:xfrm>
          <a:prstGeom prst="roundRect">
            <a:avLst>
              <a:gd name="adj" fmla="val 3733"/>
            </a:avLst>
          </a:prstGeom>
          <a:solidFill>
            <a:srgbClr val="FFF4CC"/>
          </a:solidFill>
          <a:ln/>
          <a:effectLst>
            <a:outerShdw sx="100000" sy="100000" kx="0" ky="0" algn="bl" rotWithShape="0" blurRad="101600" dist="38100" dir="5400000">
              <a:srgbClr val="9BB0A5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1691640"/>
            <a:ext cx="548640" cy="548640"/>
          </a:xfrm>
          <a:prstGeom prst="ellipse">
            <a:avLst/>
          </a:prstGeom>
          <a:solidFill>
            <a:srgbClr val="FFC80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1772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1F2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3774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1F2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Creer que × va antes que ÷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3832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6D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8 ÷ 2 × 2 = 8, no 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438912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C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nivel: de izquierda a derecha.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46720" y="1417320"/>
            <a:ext cx="3429000" cy="4480560"/>
          </a:xfrm>
          <a:prstGeom prst="roundRect">
            <a:avLst>
              <a:gd name="adj" fmla="val 3733"/>
            </a:avLst>
          </a:prstGeom>
          <a:solidFill>
            <a:srgbClr val="FBE7E3"/>
          </a:solidFill>
          <a:ln/>
          <a:effectLst>
            <a:outerShdw sx="100000" sy="100000" kx="0" ky="0" algn="bl" rotWithShape="0" blurRad="101600" dist="38100" dir="5400000">
              <a:srgbClr val="9BB0A5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21040" y="1691640"/>
            <a:ext cx="548640" cy="548640"/>
          </a:xfrm>
          <a:prstGeom prst="ellipse">
            <a:avLst/>
          </a:prstGeom>
          <a:solidFill>
            <a:srgbClr val="E8503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2104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23774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1F2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Olvidar el signo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275320" y="33832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03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−2 + 3×(−4) = −14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275320" y="438912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C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la ley de signos en cada paso.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C8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131F2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ACTIVIDAD 2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430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31F2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Práctica de Jerarquía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40080" y="2423160"/>
            <a:ext cx="6766560" cy="36576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BB0A5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65176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A6D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Ahora solos, aplicando el orden: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200400"/>
            <a:ext cx="63093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 practica-jerarquia.html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ejercicios con opciones y corrección paso a paso.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respuesta te muestra el porqué.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3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minutos. Piensa el orden antes de tocar.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35240" y="2423160"/>
            <a:ext cx="3886200" cy="3657600"/>
          </a:xfrm>
          <a:prstGeom prst="roundRect">
            <a:avLst>
              <a:gd name="adj" fmla="val 3500"/>
            </a:avLst>
          </a:prstGeom>
          <a:solidFill>
            <a:srgbClr val="131F24"/>
          </a:solidFill>
          <a:ln/>
          <a:effectLst>
            <a:outerShdw sx="100000" sy="100000" kx="0" ky="0" algn="bl" rotWithShape="0" blurRad="101600" dist="38100" dir="5400000">
              <a:srgbClr val="9BB0A5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635240" y="2743200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🧮</a:t>
            </a:r>
            <a:endParaRPr lang="en-US" sz="5200" dirty="0"/>
          </a:p>
        </p:txBody>
      </p:sp>
      <p:sp>
        <p:nvSpPr>
          <p:cNvPr id="9" name="Text 7"/>
          <p:cNvSpPr txBox="1"/>
          <p:nvPr/>
        </p:nvSpPr>
        <p:spPr>
          <a:xfrm>
            <a:off x="7635240" y="3840480"/>
            <a:ext cx="3886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10 min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7635240" y="4709160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D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autónomo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635240" y="5257800"/>
            <a:ext cx="3886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BB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Apoya a los que sacaron bajo en el quiz.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1F2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Para llevarte grabado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10881360" cy="2743200"/>
          </a:xfrm>
          <a:prstGeom prst="roundRect">
            <a:avLst>
              <a:gd name="adj" fmla="val 4667"/>
            </a:avLst>
          </a:prstGeom>
          <a:solidFill>
            <a:srgbClr val="EAF6E0"/>
          </a:solidFill>
          <a:ln/>
          <a:effectLst>
            <a:outerShdw sx="100000" sy="100000" kx="0" ky="0" algn="bl" rotWithShape="0" blurRad="101600" dist="38100" dir="5400000">
              <a:srgbClr val="9BB0A5">
                <a:alpha val="3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1005840" y="1691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3F9A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EL ORDEN, SIEMPRE: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224028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31F2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 )   →   potencias   →   × ÷   →   + −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42900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C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÷ y + − se leen de izquierda a derecha.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4480560"/>
            <a:ext cx="10881360" cy="1554480"/>
          </a:xfrm>
          <a:prstGeom prst="roundRect">
            <a:avLst>
              <a:gd name="adj" fmla="val 8235"/>
            </a:avLst>
          </a:prstGeom>
          <a:solidFill>
            <a:srgbClr val="131F24"/>
          </a:solidFill>
          <a:ln/>
          <a:effectLst>
            <a:outerShdw sx="100000" sy="100000" kx="0" ky="0" algn="bl" rotWithShape="0" blurRad="101600" dist="38100" dir="5400000">
              <a:srgbClr val="9BB0A5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1005840" y="4480560"/>
            <a:ext cx="10149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Tarea: 10 min más en practica-jerarquia.html + repite el quiz para subir tu puntaje.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1F2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Guía del tutor · cronograma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C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detalle de qué decir está en las NOTAS de cada diapositiva.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9A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0–3 min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651760" y="16916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1F2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Bienvenida + agenda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223760" y="16916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 el 'por qué' del tema.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1945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9A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3–20 min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651760" y="21945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1F2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Quiz de entrada (autónomo)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223760" y="21945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de signos. Diagnóstico del grupo.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697480"/>
            <a:ext cx="1088136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26974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9A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20–25 min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651760" y="26974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1F2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Resultados + enganche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223760" y="26974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 3+4×2. No corrijas aún.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32004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9A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25–30 min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651760" y="32004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1F2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La regla del orden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223760" y="32004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escalera. Izquierda a derecha.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3703320"/>
            <a:ext cx="1088136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77240" y="37033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9A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30–43 min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2651760" y="370332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1F2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Ejemplos paso a paso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223760" y="37033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Sin/con paréntesis, con signos.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2062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9A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43–48 min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2651760" y="42062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1F2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Tu turno (chat)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223760" y="42062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rápidas, nombra alumnos.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4709160"/>
            <a:ext cx="1088136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77240" y="47091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9A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48–50 min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2651760" y="47091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1F2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Trampas del examen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223760" y="47091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3 errores típicos.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77240" y="52120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9A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50–56 min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2651760" y="52120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1F2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Práctica autónoma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223760" y="52120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practica-jerarquia.html.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0080" y="5715000"/>
            <a:ext cx="1088136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77240" y="57150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9A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56–60 min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2651760" y="57150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1F2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Cierre + tarea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7223760" y="57150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4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 y despedida.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2026-09-29T23:43:29Z</dcterms:created>
  <dcterms:modified xsi:type="dcterms:W3CDTF">2026-09-29T23:43:29Z</dcterms:modified>
</cp:coreProperties>
</file>